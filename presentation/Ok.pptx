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2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595360" y="0"/>
            <a:ext cx="3566160" cy="914400"/>
          </a:xfrm>
          <a:prstGeom prst="rect">
            <a:avLst/>
          </a:prstGeom>
          <a:solidFill>
            <a:srgbClr val="2A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784080" y="914400"/>
            <a:ext cx="2404872" cy="164592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52560" y="6126480"/>
            <a:ext cx="3136392" cy="73152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55080"/>
            <a:ext cx="3657600" cy="502920"/>
          </a:xfrm>
          <a:prstGeom prst="rect">
            <a:avLst/>
          </a:prstGeom>
          <a:solidFill>
            <a:srgbClr val="2A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78638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B998B"/>
                </a:solidFill>
                <a:latin typeface="Aptos"/>
              </a:defRPr>
            </a:pPr>
            <a:r>
              <a:t>MACHINE LEARNING MINI-PROJECT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9692640" cy="1325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Classifying Adolescent</a:t>
            </a:r>
          </a:p>
          <a:p>
            <a:pPr>
              <a:spcAft>
                <a:spcPts val="7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Excessive Alcohol Drinkers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3154680"/>
            <a:ext cx="8412480" cy="685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D5E0EF"/>
                </a:solidFill>
                <a:latin typeface="Aptos"/>
              </a:defRPr>
            </a:pPr>
            <a:r>
              <a:t>A survey-data classification adaptation of an fMRI-inspired research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4617720"/>
            <a:ext cx="72237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UE24CS352A • PES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5074920"/>
            <a:ext cx="7680960" cy="8686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D5E0EF"/>
                </a:solidFill>
                <a:latin typeface="Aptos"/>
              </a:defRPr>
            </a:pPr>
            <a:r>
              <a:t>Satyanarayana Kallakuri  |  PES1UG24AM257</a:t>
            </a:r>
          </a:p>
          <a:p>
            <a:pPr>
              <a:spcAft>
                <a:spcPts val="700"/>
              </a:spcAft>
              <a:defRPr sz="1400" b="0">
                <a:solidFill>
                  <a:srgbClr val="D5E0EF"/>
                </a:solidFill>
                <a:latin typeface="Aptos"/>
              </a:defRPr>
            </a:pPr>
            <a:r>
              <a:t>Suhas Iyengar  |  PES1UG24AM291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6080760"/>
            <a:ext cx="80467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0C0D5"/>
                </a:solidFill>
                <a:latin typeface="Aptos"/>
              </a:defRPr>
            </a:pPr>
            <a:r>
              <a:t>Presented by the project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23D"/>
                </a:solidFill>
                <a:latin typeface="Aptos"/>
              </a:defRPr>
            </a:pPr>
            <a:r>
              <a:t>Research motivation and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5156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B998B"/>
                </a:solidFill>
                <a:latin typeface="Aptos"/>
              </a:defRPr>
            </a:pPr>
            <a:r>
              <a:t>01 •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67382"/>
                </a:solidFill>
                <a:latin typeface="Aptos"/>
              </a:defRPr>
            </a:pPr>
            <a:r>
              <a:t>UE24CS352A • Machine Learning Mini-Project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6738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474720" cy="1828800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82296" cy="182880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581912"/>
            <a:ext cx="309067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23D"/>
                </a:solidFill>
                <a:latin typeface="Aptos"/>
              </a:defRPr>
            </a:pPr>
            <a:r>
              <a:t>Why this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039112"/>
            <a:ext cx="3090672" cy="10789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313D"/>
                </a:solidFill>
                <a:latin typeface="Aptos"/>
              </a:defRPr>
            </a:pPr>
            <a:r>
              <a:t>Adolescent alcohol use can affect learning, health, and well-being.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17320"/>
            <a:ext cx="3474720" cy="1828800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17320"/>
            <a:ext cx="82296" cy="1828800"/>
          </a:xfrm>
          <a:prstGeom prst="rect">
            <a:avLst/>
          </a:prstGeom>
          <a:solidFill>
            <a:srgbClr val="2A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581912"/>
            <a:ext cx="309067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23D"/>
                </a:solidFill>
                <a:latin typeface="Aptos"/>
              </a:defRPr>
            </a:pPr>
            <a:r>
              <a:t>Research idea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039112"/>
            <a:ext cx="3090672" cy="10789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313D"/>
                </a:solidFill>
                <a:latin typeface="Aptos"/>
              </a:defRPr>
            </a:pPr>
            <a:r>
              <a:t>Explore whether measurable student characteristics can help distinguish higher from lower alcohol-consumption groups.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17320"/>
            <a:ext cx="3474720" cy="1828800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417320"/>
            <a:ext cx="82296" cy="1828800"/>
          </a:xfrm>
          <a:prstGeom prst="rect">
            <a:avLst/>
          </a:prstGeom>
          <a:solidFill>
            <a:srgbClr val="E89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581912"/>
            <a:ext cx="309067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23D"/>
                </a:solidFill>
                <a:latin typeface="Aptos"/>
              </a:defRPr>
            </a:pPr>
            <a:r>
              <a:t>ML framing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039112"/>
            <a:ext cx="3090672" cy="10789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313D"/>
                </a:solidFill>
                <a:latin typeface="Aptos"/>
              </a:defRPr>
            </a:pPr>
            <a:r>
              <a:t>A binary classification task: estimate a group label from features, then evaluate errors and generalization.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840480"/>
            <a:ext cx="1042416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4223D"/>
                </a:solidFill>
                <a:latin typeface="Aptos"/>
              </a:defRPr>
            </a:pPr>
            <a:r>
              <a:t>Project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343400"/>
            <a:ext cx="10149840" cy="10515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2300" b="0">
                <a:solidFill>
                  <a:srgbClr val="28313D"/>
                </a:solidFill>
                <a:latin typeface="Aptos"/>
              </a:defRPr>
            </a:pPr>
            <a:r>
              <a:t>Can supervised learning models classify students into higher- and lower-consumption groups using non-alcohol-related survey features?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669280"/>
            <a:ext cx="1024128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C24D4D"/>
                </a:solidFill>
                <a:latin typeface="Aptos"/>
              </a:defRPr>
            </a:pPr>
            <a:r>
              <a:t>Important scope note: this implementation uses survey data, not fMRI scans, and is not a clinical screening tool.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23D"/>
                </a:solidFill>
                <a:latin typeface="Aptos"/>
              </a:defRPr>
            </a:pPr>
            <a:r>
              <a:t>Dataset and target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5156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B998B"/>
                </a:solidFill>
                <a:latin typeface="Aptos"/>
              </a:defRPr>
            </a:pPr>
            <a:r>
              <a:t>02 •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67382"/>
                </a:solidFill>
                <a:latin typeface="Aptos"/>
              </a:defRPr>
            </a:pPr>
            <a:r>
              <a:t>UE24CS352A • Machine Learning Mini-Project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6738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5303520" cy="1874519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82296" cy="1874519"/>
          </a:xfrm>
          <a:prstGeom prst="rect">
            <a:avLst/>
          </a:prstGeom>
          <a:solidFill>
            <a:srgbClr val="2A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536192"/>
            <a:ext cx="491947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23D"/>
                </a:solidFill>
                <a:latin typeface="Aptos"/>
              </a:defRPr>
            </a:pPr>
            <a:r>
              <a:t>Dataset 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993392"/>
            <a:ext cx="4919472" cy="11247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313D"/>
                </a:solidFill>
                <a:latin typeface="Aptos"/>
              </a:defRPr>
            </a:pPr>
            <a:r>
              <a:t>UCI Student Performance dataset</a:t>
            </a:r>
          </a:p>
          <a:p>
            <a:pPr>
              <a:spcAft>
                <a:spcPts val="700"/>
              </a:spcAft>
              <a:defRPr sz="1700" b="0">
                <a:solidFill>
                  <a:srgbClr val="28313D"/>
                </a:solidFill>
                <a:latin typeface="Aptos"/>
              </a:defRPr>
            </a:pPr>
            <a:r>
              <a:t>Portuguese-language secondary-school records</a:t>
            </a:r>
          </a:p>
          <a:p>
            <a:pPr>
              <a:spcAft>
                <a:spcPts val="700"/>
              </a:spcAft>
              <a:defRPr sz="1700" b="0">
                <a:solidFill>
                  <a:srgbClr val="28313D"/>
                </a:solidFill>
                <a:latin typeface="Aptos"/>
              </a:defRPr>
            </a:pPr>
            <a:r>
              <a:t>649 student records • 33 columns in student-por.csv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303520" cy="1874519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82296" cy="1874519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536192"/>
            <a:ext cx="491947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23D"/>
                </a:solidFill>
                <a:latin typeface="Aptos"/>
              </a:defRPr>
            </a:pPr>
            <a:r>
              <a:t>Target construction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993392"/>
            <a:ext cx="4919472" cy="11247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8313D"/>
                </a:solidFill>
                <a:latin typeface="Aptos"/>
              </a:defRPr>
            </a:pPr>
            <a:r>
              <a:t>Dalc: workday alcohol-consumption rating (1–5)</a:t>
            </a:r>
          </a:p>
          <a:p>
            <a:pPr>
              <a:spcAft>
                <a:spcPts val="700"/>
              </a:spcAft>
              <a:defRPr sz="1600" b="0">
                <a:solidFill>
                  <a:srgbClr val="28313D"/>
                </a:solidFill>
                <a:latin typeface="Aptos"/>
              </a:defRPr>
            </a:pPr>
            <a:r>
              <a:t>Walc: weekend alcohol-consumption rating (1–5)</a:t>
            </a:r>
          </a:p>
          <a:p>
            <a:pPr>
              <a:spcAft>
                <a:spcPts val="700"/>
              </a:spcAft>
              <a:defRPr sz="1600" b="0">
                <a:solidFill>
                  <a:srgbClr val="28313D"/>
                </a:solidFill>
                <a:latin typeface="Aptos"/>
              </a:defRPr>
            </a:pPr>
            <a:r>
              <a:t>High group = Dalc ≥ 4 OR Walc ≥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657600"/>
            <a:ext cx="104241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4223D"/>
                </a:solidFill>
                <a:latin typeface="Aptos"/>
              </a:defRPr>
            </a:pPr>
            <a:r>
              <a:t>Class distribution after target construction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297680"/>
            <a:ext cx="15544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28313D"/>
                </a:solidFill>
                <a:latin typeface="Aptos"/>
              </a:defRPr>
            </a:pPr>
            <a:r>
              <a:t>Lower (0)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4279392"/>
            <a:ext cx="6400800" cy="320040"/>
          </a:xfrm>
          <a:prstGeom prst="roundRect">
            <a:avLst/>
          </a:prstGeom>
          <a:solidFill>
            <a:srgbClr val="2A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4279392"/>
            <a:ext cx="1828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2A5BA0"/>
                </a:solidFill>
                <a:latin typeface="Aptos"/>
              </a:defRPr>
            </a:pPr>
            <a:r>
              <a:t>509 • 78.4%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983480"/>
            <a:ext cx="15544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28313D"/>
                </a:solidFill>
                <a:latin typeface="Aptos"/>
              </a:defRPr>
            </a:pPr>
            <a:r>
              <a:t>Higher (1)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23160" y="4965192"/>
            <a:ext cx="1764792" cy="320040"/>
          </a:xfrm>
          <a:prstGeom prst="roundRect">
            <a:avLst/>
          </a:prstGeom>
          <a:solidFill>
            <a:srgbClr val="E89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4965192"/>
            <a:ext cx="1828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E89743"/>
                </a:solidFill>
                <a:latin typeface="Aptos"/>
              </a:defRPr>
            </a:pPr>
            <a:r>
              <a:t>140 • 21.6%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715000"/>
            <a:ext cx="1060704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C24D4D"/>
                </a:solidFill>
                <a:latin typeface="Aptos"/>
              </a:defRPr>
            </a:pPr>
            <a:r>
              <a:t>The threshold is a project-defined label, not a medical diagnosis. Dalc and Walc are excluded from model inputs to prevent target leakage.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23D"/>
                </a:solidFill>
                <a:latin typeface="Aptos"/>
              </a:defRPr>
            </a:pPr>
            <a:r>
              <a:t>Preprocessing and experimental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5156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B998B"/>
                </a:solidFill>
                <a:latin typeface="Aptos"/>
              </a:defRPr>
            </a:pPr>
            <a:r>
              <a:t>03 •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67382"/>
                </a:solidFill>
                <a:latin typeface="Aptos"/>
              </a:defRPr>
            </a:pPr>
            <a:r>
              <a:t>UE24CS352A • Machine Learning Mini-Project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6738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429000" cy="1600200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82296" cy="160020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581912"/>
            <a:ext cx="304495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23D"/>
                </a:solidFill>
                <a:latin typeface="Aptos"/>
              </a:defRPr>
            </a:pPr>
            <a:r>
              <a:t>1. Label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039112"/>
            <a:ext cx="3044952" cy="8503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8313D"/>
                </a:solidFill>
                <a:latin typeface="Aptos"/>
              </a:defRPr>
            </a:pPr>
            <a:r>
              <a:t>Create binary target from Dalc/Walc threshold.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417320"/>
            <a:ext cx="3429000" cy="1600200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417320"/>
            <a:ext cx="82296" cy="1600200"/>
          </a:xfrm>
          <a:prstGeom prst="rect">
            <a:avLst/>
          </a:prstGeom>
          <a:solidFill>
            <a:srgbClr val="2A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1581912"/>
            <a:ext cx="304495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23D"/>
                </a:solidFill>
                <a:latin typeface="Aptos"/>
              </a:defRPr>
            </a:pPr>
            <a:r>
              <a:t>2. Split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039112"/>
            <a:ext cx="3044952" cy="8503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8313D"/>
                </a:solidFill>
                <a:latin typeface="Aptos"/>
              </a:defRPr>
            </a:pPr>
            <a:r>
              <a:t>Stratified 80/20 train–test split; random_state = 42.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417320"/>
            <a:ext cx="3429000" cy="1600200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417320"/>
            <a:ext cx="82296" cy="1600200"/>
          </a:xfrm>
          <a:prstGeom prst="rect">
            <a:avLst/>
          </a:prstGeom>
          <a:solidFill>
            <a:srgbClr val="E89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8" y="1581912"/>
            <a:ext cx="304495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23D"/>
                </a:solidFill>
                <a:latin typeface="Aptos"/>
              </a:defRPr>
            </a:pPr>
            <a:r>
              <a:t>3. Preprocess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2039112"/>
            <a:ext cx="3044952" cy="8503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8313D"/>
                </a:solidFill>
                <a:latin typeface="Aptos"/>
              </a:defRPr>
            </a:pPr>
            <a:r>
              <a:t>Impute missing values; scale numeric features; one-hot encode categorical features.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474720"/>
            <a:ext cx="3429000" cy="1600200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474720"/>
            <a:ext cx="82296" cy="160020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639312"/>
            <a:ext cx="304495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23D"/>
                </a:solidFill>
                <a:latin typeface="Aptos"/>
              </a:defRPr>
            </a:pPr>
            <a:r>
              <a:t>4. Train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4096511"/>
            <a:ext cx="3044952" cy="8503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8313D"/>
                </a:solidFill>
                <a:latin typeface="Aptos"/>
              </a:defRPr>
            </a:pPr>
            <a:r>
              <a:t>Class-weighted Logistic Regression and RBF-kernel SVM.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3474720"/>
            <a:ext cx="3429000" cy="1600200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34840" y="3474720"/>
            <a:ext cx="82296" cy="1600200"/>
          </a:xfrm>
          <a:prstGeom prst="rect">
            <a:avLst/>
          </a:prstGeom>
          <a:solidFill>
            <a:srgbClr val="2A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36008" y="3639312"/>
            <a:ext cx="304495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23D"/>
                </a:solidFill>
                <a:latin typeface="Aptos"/>
              </a:defRPr>
            </a:pPr>
            <a:r>
              <a:t>5. Validate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6008" y="4096511"/>
            <a:ext cx="3044952" cy="8503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8313D"/>
                </a:solidFill>
                <a:latin typeface="Aptos"/>
              </a:defRPr>
            </a:pPr>
            <a:r>
              <a:t>5-fold stratified cross-validation on training data.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3474720"/>
            <a:ext cx="3429000" cy="1600200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3474720"/>
            <a:ext cx="82296" cy="1600200"/>
          </a:xfrm>
          <a:prstGeom prst="rect">
            <a:avLst/>
          </a:prstGeom>
          <a:solidFill>
            <a:srgbClr val="E89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30768" y="3639312"/>
            <a:ext cx="304495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23D"/>
                </a:solidFill>
                <a:latin typeface="Aptos"/>
              </a:defRPr>
            </a:pPr>
            <a:r>
              <a:t>6. Evaluate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0768" y="4096511"/>
            <a:ext cx="3044952" cy="8503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8313D"/>
                </a:solidFill>
                <a:latin typeface="Aptos"/>
              </a:defRPr>
            </a:pPr>
            <a:r>
              <a:t>Accuracy, balanced accuracy, precision, recall, F1, ROC-AUC and confusion matrix.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806440"/>
            <a:ext cx="103327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308260"/>
                </a:solidFill>
                <a:latin typeface="Aptos"/>
              </a:defRPr>
            </a:pPr>
            <a:r>
              <a:t>Leakage control: Dalc and Walc define the target and are not included as predictors.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23D"/>
                </a:solidFill>
                <a:latin typeface="Aptos"/>
              </a:defRPr>
            </a:pPr>
            <a:r>
              <a:t>Models compared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5156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B998B"/>
                </a:solidFill>
                <a:latin typeface="Aptos"/>
              </a:defRPr>
            </a:pPr>
            <a:r>
              <a:t>04 •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67382"/>
                </a:solidFill>
                <a:latin typeface="Aptos"/>
              </a:defRPr>
            </a:pPr>
            <a:r>
              <a:t>UE24CS352A • Machine Learning Mini-Project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67382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212080" cy="2926080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82296" cy="292608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19072"/>
            <a:ext cx="482803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23D"/>
                </a:solidFill>
                <a:latin typeface="Aptos"/>
              </a:defRPr>
            </a:pPr>
            <a:r>
              <a:t>Logistic Regression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828032" cy="21762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8313D"/>
                </a:solidFill>
                <a:latin typeface="Aptos"/>
              </a:defRPr>
            </a:pPr>
            <a:r>
              <a:t>• Linear classification baseline</a:t>
            </a:r>
          </a:p>
          <a:p>
            <a:pPr>
              <a:spcAft>
                <a:spcPts val="700"/>
              </a:spcAft>
              <a:defRPr sz="1800" b="0">
                <a:solidFill>
                  <a:srgbClr val="28313D"/>
                </a:solidFill>
                <a:latin typeface="Aptos"/>
              </a:defRPr>
            </a:pPr>
            <a:r>
              <a:t>• Produces class probabilities</a:t>
            </a:r>
          </a:p>
          <a:p>
            <a:pPr>
              <a:spcAft>
                <a:spcPts val="700"/>
              </a:spcAft>
              <a:defRPr sz="1800" b="0">
                <a:solidFill>
                  <a:srgbClr val="28313D"/>
                </a:solidFill>
                <a:latin typeface="Aptos"/>
              </a:defRPr>
            </a:pPr>
            <a:r>
              <a:t>• Class weighting helps account for the minority class</a:t>
            </a:r>
          </a:p>
          <a:p>
            <a:pPr>
              <a:spcAft>
                <a:spcPts val="700"/>
              </a:spcAft>
              <a:defRPr sz="1800" b="0">
                <a:solidFill>
                  <a:srgbClr val="28313D"/>
                </a:solidFill>
                <a:latin typeface="Aptos"/>
              </a:defRPr>
            </a:pPr>
            <a:r>
              <a:t>• Useful as an interpretable reference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212080" cy="2926080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554480"/>
            <a:ext cx="82296" cy="2926080"/>
          </a:xfrm>
          <a:prstGeom prst="rect">
            <a:avLst/>
          </a:prstGeom>
          <a:solidFill>
            <a:srgbClr val="2A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719072"/>
            <a:ext cx="482803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23D"/>
                </a:solidFill>
                <a:latin typeface="Aptos"/>
              </a:defRPr>
            </a:pPr>
            <a:r>
              <a:t>RBF-kernel SVM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176272"/>
            <a:ext cx="4828032" cy="21762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8313D"/>
                </a:solidFill>
                <a:latin typeface="Aptos"/>
              </a:defRPr>
            </a:pPr>
            <a:r>
              <a:t>• Learns a nonlinear decision boundary</a:t>
            </a:r>
          </a:p>
          <a:p>
            <a:pPr>
              <a:spcAft>
                <a:spcPts val="700"/>
              </a:spcAft>
              <a:defRPr sz="1800" b="0">
                <a:solidFill>
                  <a:srgbClr val="28313D"/>
                </a:solidFill>
                <a:latin typeface="Aptos"/>
              </a:defRPr>
            </a:pPr>
            <a:r>
              <a:t>• Uses scaled inputs</a:t>
            </a:r>
          </a:p>
          <a:p>
            <a:pPr>
              <a:spcAft>
                <a:spcPts val="700"/>
              </a:spcAft>
              <a:defRPr sz="1800" b="0">
                <a:solidFill>
                  <a:srgbClr val="28313D"/>
                </a:solidFill>
                <a:latin typeface="Aptos"/>
              </a:defRPr>
            </a:pPr>
            <a:r>
              <a:t>• Class weighting helps reduce majority-class bias</a:t>
            </a:r>
          </a:p>
          <a:p>
            <a:pPr>
              <a:spcAft>
                <a:spcPts val="700"/>
              </a:spcAft>
              <a:defRPr sz="1800" b="0">
                <a:solidFill>
                  <a:srgbClr val="28313D"/>
                </a:solidFill>
                <a:latin typeface="Aptos"/>
              </a:defRPr>
            </a:pPr>
            <a:r>
              <a:t>• Evaluated on the same held-out split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74920"/>
            <a:ext cx="1024128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14223D"/>
                </a:solidFill>
                <a:latin typeface="Aptos"/>
              </a:defRPr>
            </a:pPr>
            <a:r>
              <a:t>Both models use the same split and preprocessing pipeline so the comparison is as fair as possible.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23D"/>
                </a:solidFill>
                <a:latin typeface="Aptos"/>
              </a:defRPr>
            </a:pPr>
            <a:r>
              <a:t>Held-out test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5156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B998B"/>
                </a:solidFill>
                <a:latin typeface="Aptos"/>
              </a:defRPr>
            </a:pPr>
            <a:r>
              <a:t>05 •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67382"/>
                </a:solidFill>
                <a:latin typeface="Aptos"/>
              </a:defRPr>
            </a:pPr>
            <a:r>
              <a:t>UE24CS352A • Machine Learning Mini-Project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67382"/>
                </a:solidFill>
                <a:latin typeface="Aptos"/>
              </a:defRPr>
            </a:pPr>
            <a: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417320"/>
          <a:ext cx="731520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514600"/>
                <a:gridCol w="2514600"/>
              </a:tblGrid>
              <a:tr h="6781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Metric</a:t>
                      </a:r>
                    </a:p>
                  </a:txBody>
                  <a:tcPr marL="109728" marR="73152">
                    <a:solidFill>
                      <a:srgbClr val="1422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Logistic Regression</a:t>
                      </a:r>
                    </a:p>
                  </a:txBody>
                  <a:tcPr marL="109728" marR="73152">
                    <a:solidFill>
                      <a:srgbClr val="1422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RBF SVM</a:t>
                      </a:r>
                    </a:p>
                  </a:txBody>
                  <a:tcPr marL="109728" marR="73152">
                    <a:solidFill>
                      <a:srgbClr val="14223D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8313D"/>
                          </a:solidFill>
                          <a:latin typeface="Aptos"/>
                        </a:defRPr>
                      </a:pPr>
                      <a:r>
                        <a:t>Accuracy</a:t>
                      </a:r>
                    </a:p>
                  </a:txBody>
                  <a:tcPr marL="109728" marR="73152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8313D"/>
                          </a:solidFill>
                          <a:latin typeface="Aptos"/>
                        </a:defRPr>
                      </a:pPr>
                      <a:r>
                        <a:t>0.746</a:t>
                      </a:r>
                    </a:p>
                  </a:txBody>
                  <a:tcPr marL="109728" marR="73152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8313D"/>
                          </a:solidFill>
                          <a:latin typeface="Aptos"/>
                        </a:defRPr>
                      </a:pPr>
                      <a:r>
                        <a:t>0.792</a:t>
                      </a:r>
                    </a:p>
                  </a:txBody>
                  <a:tcPr marL="109728" marR="73152">
                    <a:solidFill>
                      <a:srgbClr val="EFF4FA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8313D"/>
                          </a:solidFill>
                          <a:latin typeface="Aptos"/>
                        </a:defRPr>
                      </a:pPr>
                      <a:r>
                        <a:t>Balanced accuracy</a:t>
                      </a:r>
                    </a:p>
                  </a:txBody>
                  <a:tcPr marL="109728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8313D"/>
                          </a:solidFill>
                          <a:latin typeface="Aptos"/>
                        </a:defRPr>
                      </a:pPr>
                      <a:r>
                        <a:t>0.735</a:t>
                      </a:r>
                    </a:p>
                  </a:txBody>
                  <a:tcPr marL="109728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8313D"/>
                          </a:solidFill>
                          <a:latin typeface="Aptos"/>
                        </a:defRPr>
                      </a:pPr>
                      <a:r>
                        <a:t>0.738</a:t>
                      </a:r>
                    </a:p>
                  </a:txBody>
                  <a:tcPr marL="109728" marR="73152"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8313D"/>
                          </a:solidFill>
                          <a:latin typeface="Aptos"/>
                        </a:defRPr>
                      </a:pPr>
                      <a:r>
                        <a:t>Precision</a:t>
                      </a:r>
                    </a:p>
                  </a:txBody>
                  <a:tcPr marL="109728" marR="73152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8313D"/>
                          </a:solidFill>
                          <a:latin typeface="Aptos"/>
                        </a:defRPr>
                      </a:pPr>
                      <a:r>
                        <a:t>0.444</a:t>
                      </a:r>
                    </a:p>
                  </a:txBody>
                  <a:tcPr marL="109728" marR="73152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8313D"/>
                          </a:solidFill>
                          <a:latin typeface="Aptos"/>
                        </a:defRPr>
                      </a:pPr>
                      <a:r>
                        <a:t>0.514</a:t>
                      </a:r>
                    </a:p>
                  </a:txBody>
                  <a:tcPr marL="109728" marR="73152">
                    <a:solidFill>
                      <a:srgbClr val="EFF4FA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8313D"/>
                          </a:solidFill>
                          <a:latin typeface="Aptos"/>
                        </a:defRPr>
                      </a:pPr>
                      <a:r>
                        <a:t>Recall</a:t>
                      </a:r>
                    </a:p>
                  </a:txBody>
                  <a:tcPr marL="109728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8313D"/>
                          </a:solidFill>
                          <a:latin typeface="Aptos"/>
                        </a:defRPr>
                      </a:pPr>
                      <a:r>
                        <a:t>0.714</a:t>
                      </a:r>
                    </a:p>
                  </a:txBody>
                  <a:tcPr marL="109728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8313D"/>
                          </a:solidFill>
                          <a:latin typeface="Aptos"/>
                        </a:defRPr>
                      </a:pPr>
                      <a:r>
                        <a:t>0.643</a:t>
                      </a:r>
                    </a:p>
                  </a:txBody>
                  <a:tcPr marL="109728" marR="73152"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8313D"/>
                          </a:solidFill>
                          <a:latin typeface="Aptos"/>
                        </a:defRPr>
                      </a:pPr>
                      <a:r>
                        <a:t>F1-score</a:t>
                      </a:r>
                    </a:p>
                  </a:txBody>
                  <a:tcPr marL="109728" marR="73152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8313D"/>
                          </a:solidFill>
                          <a:latin typeface="Aptos"/>
                        </a:defRPr>
                      </a:pPr>
                      <a:r>
                        <a:t>0.548</a:t>
                      </a:r>
                    </a:p>
                  </a:txBody>
                  <a:tcPr marL="109728" marR="73152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8313D"/>
                          </a:solidFill>
                          <a:latin typeface="Aptos"/>
                        </a:defRPr>
                      </a:pPr>
                      <a:r>
                        <a:t>0.571</a:t>
                      </a:r>
                    </a:p>
                  </a:txBody>
                  <a:tcPr marL="109728" marR="73152">
                    <a:solidFill>
                      <a:srgbClr val="EFF4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366760" y="1554480"/>
            <a:ext cx="3017520" cy="1600200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366760" y="1554480"/>
            <a:ext cx="82296" cy="160020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67928" y="1719072"/>
            <a:ext cx="263347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23D"/>
                </a:solidFill>
                <a:latin typeface="Aptos"/>
              </a:defRPr>
            </a:pPr>
            <a:r>
              <a:t>ROC-AUC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7928" y="2176272"/>
            <a:ext cx="2633472" cy="8503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313D"/>
                </a:solidFill>
                <a:latin typeface="Aptos"/>
              </a:defRPr>
            </a:pPr>
            <a:r>
              <a:t>Logistic Regression: 0.826</a:t>
            </a:r>
          </a:p>
          <a:p>
            <a:pPr>
              <a:spcAft>
                <a:spcPts val="700"/>
              </a:spcAft>
              <a:defRPr sz="1700" b="0">
                <a:solidFill>
                  <a:srgbClr val="28313D"/>
                </a:solidFill>
                <a:latin typeface="Aptos"/>
              </a:defRPr>
            </a:pPr>
            <a:r>
              <a:t>RBF SVM: 0.854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3429000"/>
            <a:ext cx="3017520" cy="1600200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66760" y="3429000"/>
            <a:ext cx="82296" cy="1600200"/>
          </a:xfrm>
          <a:prstGeom prst="rect">
            <a:avLst/>
          </a:prstGeom>
          <a:solidFill>
            <a:srgbClr val="E89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67928" y="3593592"/>
            <a:ext cx="263347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23D"/>
                </a:solidFill>
                <a:latin typeface="Aptos"/>
              </a:defRPr>
            </a:pPr>
            <a:r>
              <a:t>5-fold CV F1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67928" y="4050791"/>
            <a:ext cx="2633472" cy="8503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8313D"/>
                </a:solidFill>
                <a:latin typeface="Aptos"/>
              </a:defRPr>
            </a:pPr>
            <a:r>
              <a:t>Logistic Regression: 0.550 ± 0.030</a:t>
            </a:r>
          </a:p>
          <a:p>
            <a:pPr>
              <a:spcAft>
                <a:spcPts val="700"/>
              </a:spcAft>
              <a:defRPr sz="1400" b="0">
                <a:solidFill>
                  <a:srgbClr val="28313D"/>
                </a:solidFill>
                <a:latin typeface="Aptos"/>
              </a:defRPr>
            </a:pPr>
            <a:r>
              <a:t>RBF SVM: 0.527 ± 0.041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4223D"/>
                </a:solidFill>
                <a:latin typeface="Aptos"/>
              </a:defRPr>
            </a:pPr>
            <a:r>
              <a:t>SVM has the higher test F1 and ROC-AUC; Logistic Regression has higher test recall and mean CV F1.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23D"/>
                </a:solidFill>
                <a:latin typeface="Aptos"/>
              </a:defRPr>
            </a:pPr>
            <a:r>
              <a:t>Confusion matrices and error trade-offs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5156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B998B"/>
                </a:solidFill>
                <a:latin typeface="Aptos"/>
              </a:defRPr>
            </a:pPr>
            <a:r>
              <a:t>06 •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67382"/>
                </a:solidFill>
                <a:latin typeface="Aptos"/>
              </a:defRPr>
            </a:pPr>
            <a:r>
              <a:t>UE24CS352A • Machine Learning Mini-Project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67382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212080" cy="3108960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82296" cy="310896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81912"/>
            <a:ext cx="482803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23D"/>
                </a:solidFill>
                <a:latin typeface="Aptos"/>
              </a:defRPr>
            </a:pPr>
            <a:r>
              <a:t>Logistic Regression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39112"/>
            <a:ext cx="4828032" cy="23591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313D"/>
                </a:solidFill>
                <a:latin typeface="Aptos"/>
              </a:defRPr>
            </a:pPr>
            <a:r>
              <a:t>Actual lower → predicted lower: 77</a:t>
            </a:r>
          </a:p>
          <a:p>
            <a:pPr>
              <a:spcAft>
                <a:spcPts val="700"/>
              </a:spcAft>
              <a:defRPr sz="1700" b="0">
                <a:solidFill>
                  <a:srgbClr val="28313D"/>
                </a:solidFill>
                <a:latin typeface="Aptos"/>
              </a:defRPr>
            </a:pPr>
            <a:r>
              <a:t>Actual lower → predicted higher: 25</a:t>
            </a:r>
          </a:p>
          <a:p>
            <a:pPr>
              <a:spcAft>
                <a:spcPts val="700"/>
              </a:spcAft>
              <a:defRPr sz="1700" b="0">
                <a:solidFill>
                  <a:srgbClr val="28313D"/>
                </a:solidFill>
                <a:latin typeface="Aptos"/>
              </a:defRPr>
            </a:pPr>
            <a:r>
              <a:t>Actual higher → predicted lower: 8</a:t>
            </a:r>
          </a:p>
          <a:p>
            <a:pPr>
              <a:spcAft>
                <a:spcPts val="700"/>
              </a:spcAft>
              <a:defRPr sz="1700" b="0">
                <a:solidFill>
                  <a:srgbClr val="28313D"/>
                </a:solidFill>
                <a:latin typeface="Aptos"/>
              </a:defRPr>
            </a:pPr>
            <a:r>
              <a:t>Actual higher → predicted higher: 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5212080" cy="3108960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417320"/>
            <a:ext cx="82296" cy="3108960"/>
          </a:xfrm>
          <a:prstGeom prst="rect">
            <a:avLst/>
          </a:prstGeom>
          <a:solidFill>
            <a:srgbClr val="2A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581912"/>
            <a:ext cx="482803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23D"/>
                </a:solidFill>
                <a:latin typeface="Aptos"/>
              </a:defRPr>
            </a:pPr>
            <a:r>
              <a:t>RBF SVM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039112"/>
            <a:ext cx="4828032" cy="23591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313D"/>
                </a:solidFill>
                <a:latin typeface="Aptos"/>
              </a:defRPr>
            </a:pPr>
            <a:r>
              <a:t>Actual lower → predicted lower: 85</a:t>
            </a:r>
          </a:p>
          <a:p>
            <a:pPr>
              <a:spcAft>
                <a:spcPts val="700"/>
              </a:spcAft>
              <a:defRPr sz="1700" b="0">
                <a:solidFill>
                  <a:srgbClr val="28313D"/>
                </a:solidFill>
                <a:latin typeface="Aptos"/>
              </a:defRPr>
            </a:pPr>
            <a:r>
              <a:t>Actual lower → predicted higher: 17</a:t>
            </a:r>
          </a:p>
          <a:p>
            <a:pPr>
              <a:spcAft>
                <a:spcPts val="700"/>
              </a:spcAft>
              <a:defRPr sz="1700" b="0">
                <a:solidFill>
                  <a:srgbClr val="28313D"/>
                </a:solidFill>
                <a:latin typeface="Aptos"/>
              </a:defRPr>
            </a:pPr>
            <a:r>
              <a:t>Actual higher → predicted lower: 10</a:t>
            </a:r>
          </a:p>
          <a:p>
            <a:pPr>
              <a:spcAft>
                <a:spcPts val="700"/>
              </a:spcAft>
              <a:defRPr sz="1700" b="0">
                <a:solidFill>
                  <a:srgbClr val="28313D"/>
                </a:solidFill>
                <a:latin typeface="Aptos"/>
              </a:defRPr>
            </a:pPr>
            <a:r>
              <a:t>Actual higher → predicted higher: 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983480"/>
            <a:ext cx="1042416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313D"/>
                </a:solidFill>
                <a:latin typeface="Aptos"/>
              </a:defRPr>
            </a:pPr>
            <a:r>
              <a:t>Interpretation: Logistic Regression catches more high-consumption cases (higher recall), while SVM makes fewer false positives and has the stronger overall F1 on this split.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23D"/>
                </a:solidFill>
                <a:latin typeface="Aptos"/>
              </a:defRPr>
            </a:pPr>
            <a:r>
              <a:t>What the results suggest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5156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B998B"/>
                </a:solidFill>
                <a:latin typeface="Aptos"/>
              </a:defRPr>
            </a:pPr>
            <a:r>
              <a:t>07 •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67382"/>
                </a:solidFill>
                <a:latin typeface="Aptos"/>
              </a:defRPr>
            </a:pPr>
            <a:r>
              <a:t>UE24CS352A • Machine Learning Mini-Project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67382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429000" cy="2011680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82296" cy="2011680"/>
          </a:xfrm>
          <a:prstGeom prst="rect">
            <a:avLst/>
          </a:prstGeom>
          <a:solidFill>
            <a:srgbClr val="E89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304495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23D"/>
                </a:solidFill>
                <a:latin typeface="Aptos"/>
              </a:defRPr>
            </a:pPr>
            <a:r>
              <a:t>Imbalance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84832"/>
            <a:ext cx="3044952" cy="12618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8313D"/>
                </a:solidFill>
                <a:latin typeface="Aptos"/>
              </a:defRPr>
            </a:pPr>
            <a:r>
              <a:t>Only 21.6% of records are in the higher-consumption group, so accuracy alone is insufficient.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63040"/>
            <a:ext cx="3429000" cy="2011680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463040"/>
            <a:ext cx="82296" cy="201168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627632"/>
            <a:ext cx="304495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23D"/>
                </a:solidFill>
                <a:latin typeface="Aptos"/>
              </a:defRPr>
            </a:pPr>
            <a:r>
              <a:t>Threshold trade-off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084832"/>
            <a:ext cx="3044952" cy="12618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8313D"/>
                </a:solidFill>
                <a:latin typeface="Aptos"/>
              </a:defRPr>
            </a:pPr>
            <a:r>
              <a:t>Higher recall can find more positive cases but may increase false alarms.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63040"/>
            <a:ext cx="3429000" cy="2011680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463040"/>
            <a:ext cx="82296" cy="2011680"/>
          </a:xfrm>
          <a:prstGeom prst="rect">
            <a:avLst/>
          </a:prstGeom>
          <a:solidFill>
            <a:srgbClr val="2A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627632"/>
            <a:ext cx="304495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23D"/>
                </a:solidFill>
                <a:latin typeface="Aptos"/>
              </a:defRPr>
            </a:pPr>
            <a:r>
              <a:t>Generalization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084832"/>
            <a:ext cx="3044952" cy="12618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8313D"/>
                </a:solidFill>
                <a:latin typeface="Aptos"/>
              </a:defRPr>
            </a:pPr>
            <a:r>
              <a:t>Cross-validation scores differ from held-out results; the sample and split affect estimates.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60520"/>
            <a:ext cx="101498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4223D"/>
                </a:solidFill>
                <a:latin typeface="Aptos"/>
              </a:defRPr>
            </a:pPr>
            <a:r>
              <a:t>Best model depends on the objective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17720"/>
            <a:ext cx="1005840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313D"/>
                </a:solidFill>
                <a:latin typeface="Aptos"/>
              </a:defRPr>
            </a:pPr>
            <a:r>
              <a:t>If catching as many higher-consumption cases as possible is the priority, Logistic Regression's higher recall may be preferable. If balancing precision and recall on this test split, SVM's F1 is slightly higher.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23D"/>
                </a:solidFill>
                <a:latin typeface="Aptos"/>
              </a:defRPr>
            </a:pPr>
            <a:r>
              <a:t>Limitations and responsible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5156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B998B"/>
                </a:solidFill>
                <a:latin typeface="Aptos"/>
              </a:defRPr>
            </a:pPr>
            <a:r>
              <a:t>08 •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67382"/>
                </a:solidFill>
                <a:latin typeface="Aptos"/>
              </a:defRPr>
            </a:pPr>
            <a:r>
              <a:t>UE24CS352A • Machine Learning Mini-Project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67382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73152" rIns="54864" tIns="36576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313D"/>
                </a:solidFill>
                <a:latin typeface="Aptos"/>
              </a:defRPr>
            </a:pPr>
            <a:r>
              <a:t>•  Dataset is a school survey dataset, not fMRI imaging data; this is an adaptation of the original fMRI-inspired problem.</a:t>
            </a:r>
          </a:p>
          <a:p>
            <a:pPr>
              <a:spcAft>
                <a:spcPts val="1200"/>
              </a:spcAft>
              <a:defRPr sz="1800">
                <a:solidFill>
                  <a:srgbClr val="28313D"/>
                </a:solidFill>
                <a:latin typeface="Aptos"/>
              </a:defRPr>
            </a:pPr>
            <a:r>
              <a:t>•  The target is based on self-reported ordinal ratings and a project-defined threshold.</a:t>
            </a:r>
          </a:p>
          <a:p>
            <a:pPr>
              <a:spcAft>
                <a:spcPts val="1200"/>
              </a:spcAft>
              <a:defRPr sz="1800">
                <a:solidFill>
                  <a:srgbClr val="28313D"/>
                </a:solidFill>
                <a:latin typeface="Aptos"/>
              </a:defRPr>
            </a:pPr>
            <a:r>
              <a:t>•  Class imbalance and the small held-out set make individual metrics uncertain.</a:t>
            </a:r>
          </a:p>
          <a:p>
            <a:pPr>
              <a:spcAft>
                <a:spcPts val="1200"/>
              </a:spcAft>
              <a:defRPr sz="1800">
                <a:solidFill>
                  <a:srgbClr val="28313D"/>
                </a:solidFill>
                <a:latin typeface="Aptos"/>
              </a:defRPr>
            </a:pPr>
            <a:r>
              <a:t>•  Associations in this dataset do not establish causality.</a:t>
            </a:r>
          </a:p>
          <a:p>
            <a:pPr>
              <a:spcAft>
                <a:spcPts val="1200"/>
              </a:spcAft>
              <a:defRPr sz="1800">
                <a:solidFill>
                  <a:srgbClr val="28313D"/>
                </a:solidFill>
                <a:latin typeface="Aptos"/>
              </a:defRPr>
            </a:pPr>
            <a:r>
              <a:t>•  The model is for an academic demonstration only—not diagnosis, screening, or real-world decisions.</a:t>
            </a:r>
          </a:p>
          <a:p>
            <a:pPr>
              <a:spcAft>
                <a:spcPts val="1200"/>
              </a:spcAft>
              <a:defRPr sz="1800">
                <a:solidFill>
                  <a:srgbClr val="28313D"/>
                </a:solidFill>
                <a:latin typeface="Aptos"/>
              </a:defRPr>
            </a:pPr>
            <a:r>
              <a:t>•  Results may not generalize to other populations or datasets.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806440"/>
            <a:ext cx="103327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308260"/>
                </a:solidFill>
                <a:latin typeface="Aptos"/>
              </a:defRPr>
            </a:pPr>
            <a:r>
              <a:t>The distinction between the original research idea and the implemented dataset is reported transparently.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23D"/>
                </a:solidFill>
                <a:latin typeface="Aptos"/>
              </a:defRPr>
            </a:pPr>
            <a:r>
              <a:t>Conclusion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5156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B998B"/>
                </a:solidFill>
                <a:latin typeface="Aptos"/>
              </a:defRPr>
            </a:pPr>
            <a:r>
              <a:t>09 •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67382"/>
                </a:solidFill>
                <a:latin typeface="Aptos"/>
              </a:defRPr>
            </a:pPr>
            <a:r>
              <a:t>UE24CS352A • Machine Learning Mini-Project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67382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2011680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82296" cy="201168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482803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23D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93392"/>
            <a:ext cx="4828032" cy="12618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313D"/>
                </a:solidFill>
                <a:latin typeface="Aptos"/>
              </a:defRPr>
            </a:pPr>
            <a:r>
              <a:t>A reproducible baseline pipeline was built and evaluated using two classifiers. SVM achieved test F1 = 0.571 and ROC-AUC = 0.854.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212080" cy="2011680"/>
          </a:xfrm>
          <a:prstGeom prst="roundRect">
            <a:avLst/>
          </a:prstGeom>
          <a:solidFill>
            <a:srgbClr val="EFF4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82296" cy="2011680"/>
          </a:xfrm>
          <a:prstGeom prst="rect">
            <a:avLst/>
          </a:prstGeom>
          <a:solidFill>
            <a:srgbClr val="2A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536192"/>
            <a:ext cx="4828032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4223D"/>
                </a:solidFill>
                <a:latin typeface="Aptos"/>
              </a:defRPr>
            </a:pPr>
            <a:r>
              <a:t>Next 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993392"/>
            <a:ext cx="4828032" cy="12618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8313D"/>
                </a:solidFill>
                <a:latin typeface="Aptos"/>
              </a:defRPr>
            </a:pPr>
            <a:r>
              <a:t>• Tune thresholds using validation data</a:t>
            </a:r>
          </a:p>
          <a:p>
            <a:pPr>
              <a:spcAft>
                <a:spcPts val="700"/>
              </a:spcAft>
              <a:defRPr sz="1600" b="0">
                <a:solidFill>
                  <a:srgbClr val="28313D"/>
                </a:solidFill>
                <a:latin typeface="Aptos"/>
              </a:defRPr>
            </a:pPr>
            <a:r>
              <a:t>• Examine feature importance and calibration</a:t>
            </a:r>
          </a:p>
          <a:p>
            <a:pPr>
              <a:spcAft>
                <a:spcPts val="700"/>
              </a:spcAft>
              <a:defRPr sz="1600" b="0">
                <a:solidFill>
                  <a:srgbClr val="28313D"/>
                </a:solidFill>
                <a:latin typeface="Aptos"/>
              </a:defRPr>
            </a:pPr>
            <a:r>
              <a:t>• Test on external data</a:t>
            </a:r>
          </a:p>
          <a:p>
            <a:pPr>
              <a:spcAft>
                <a:spcPts val="700"/>
              </a:spcAft>
              <a:defRPr sz="1600" b="0">
                <a:solidFill>
                  <a:srgbClr val="28313D"/>
                </a:solidFill>
                <a:latin typeface="Aptos"/>
              </a:defRPr>
            </a:pPr>
            <a:r>
              <a:t>• Use a suitable, ethically approved fMRI dataset for the original imaging task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77639"/>
            <a:ext cx="1024128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4223D"/>
                </a:solidFill>
                <a:latin typeface="Aptos"/>
              </a:defRPr>
            </a:pPr>
            <a:r>
              <a:t>Reproducibility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34840"/>
            <a:ext cx="10149840" cy="960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8313D"/>
                </a:solidFill>
                <a:latin typeface="Aptos"/>
              </a:defRPr>
            </a:pPr>
            <a:r>
              <a:t>README.md documents setup and execution. The repository includes preprocessing, training, visualization, tests, metrics, and report artifacts.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700"/>
              </a:spcAft>
              <a:defRPr sz="2300" b="1">
                <a:solidFill>
                  <a:srgbClr val="1B998B"/>
                </a:solidFill>
                <a:latin typeface="Aptos"/>
              </a:defRPr>
            </a:pPr>
            <a:r>
              <a:t>Thank you • Questions?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23D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5156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1B998B"/>
                </a:solidFill>
                <a:latin typeface="Aptos"/>
              </a:defRPr>
            </a:pPr>
            <a:r>
              <a:t>10 •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698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67382"/>
                </a:solidFill>
                <a:latin typeface="Aptos"/>
              </a:defRPr>
            </a:pPr>
            <a:r>
              <a:t>UE24CS352A • Machine Learning Mini-Project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67382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10515600" cy="4480560"/>
          </a:xfrm>
          <a:prstGeom prst="rect">
            <a:avLst/>
          </a:prstGeom>
          <a:noFill/>
        </p:spPr>
        <p:txBody>
          <a:bodyPr wrap="square" lIns="73152" rIns="54864" tIns="36576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28313D"/>
                </a:solidFill>
                <a:latin typeface="Aptos"/>
              </a:defRPr>
            </a:pPr>
            <a:r>
              <a:t>•  UCI Machine Learning Repository. Student Performance dataset (Cortez &amp; Silva, 2008). https://archive.ics.uci.edu/dataset/320/student%2Bperformance</a:t>
            </a:r>
          </a:p>
          <a:p>
            <a:pPr>
              <a:spcAft>
                <a:spcPts val="1600"/>
              </a:spcAft>
              <a:defRPr sz="1600">
                <a:solidFill>
                  <a:srgbClr val="28313D"/>
                </a:solidFill>
                <a:latin typeface="Aptos"/>
              </a:defRPr>
            </a:pPr>
            <a:r>
              <a:t>•  Original project inspiration: “Classifying Adolescent Excessive Alcohol Drinkers from fMRI Data” (project poster/paper supplied for this assignment).</a:t>
            </a:r>
          </a:p>
          <a:p>
            <a:pPr>
              <a:spcAft>
                <a:spcPts val="1600"/>
              </a:spcAft>
              <a:defRPr sz="1600">
                <a:solidFill>
                  <a:srgbClr val="28313D"/>
                </a:solidFill>
                <a:latin typeface="Aptos"/>
              </a:defRPr>
            </a:pPr>
            <a:r>
              <a:t>•  scikit-learn documentation: LogisticRegression, SVC, Pipeline, ColumnTransformer, model evaluation and cross-validation. https://scikit-learn.org/</a:t>
            </a:r>
          </a:p>
          <a:p>
            <a:pPr>
              <a:spcAft>
                <a:spcPts val="1600"/>
              </a:spcAft>
              <a:defRPr sz="1600">
                <a:solidFill>
                  <a:srgbClr val="28313D"/>
                </a:solidFill>
                <a:latin typeface="Aptos"/>
              </a:defRPr>
            </a:pPr>
            <a:r>
              <a:t>•  Project implementation and reproducibility instructions: https://github.com/satk4ll/ML-Mini-Project-fMRI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06440"/>
            <a:ext cx="104241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B998B"/>
                </a:solidFill>
                <a:latin typeface="Aptos"/>
              </a:defRPr>
            </a:pPr>
            <a:r>
              <a:t>Team: Satyanarayana Kallakuri (PES1UG24AM257) • Suhas Iyengar (PES1UG24AM291)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